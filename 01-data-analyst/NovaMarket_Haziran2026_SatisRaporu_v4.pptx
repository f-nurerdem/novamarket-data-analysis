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B5E3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457200"/>
            <a:ext cx="3657600" cy="3657600"/>
          </a:xfrm>
          <a:prstGeom prst="ellipse">
            <a:avLst/>
          </a:prstGeom>
          <a:solidFill>
            <a:srgbClr val="4C8C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4937760" cy="4937760"/>
          </a:xfrm>
          <a:prstGeom prst="ellipse">
            <a:avLst/>
          </a:prstGeom>
          <a:solidFill>
            <a:srgbClr val="1B5E3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Haziran 2026</a:t>
            </a:r>
            <a:endParaRPr lang="en-US" sz="4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Satış Raporu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502920" cy="54864"/>
          </a:xfrm>
          <a:prstGeom prst="rect">
            <a:avLst/>
          </a:prstGeom>
          <a:solidFill>
            <a:srgbClr val="8FBF9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Fatmanur Erdem Sönmez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verilerine dayalı aylık performans özeti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veri yenileme: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9.07.2026 14:14 UTC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 Bakış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2026 dönemine ait temel performans göstergeleri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15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20824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Ciro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2496312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5.440.921 TL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6252" y="1600200"/>
            <a:ext cx="25815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F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7420" y="18013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10" name="Text 8"/>
          <p:cNvSpPr/>
          <p:nvPr/>
        </p:nvSpPr>
        <p:spPr>
          <a:xfrm>
            <a:off x="3587420" y="2020824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Satan Ürün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87420" y="2496312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Powerbank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87420" y="301752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adet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3864" y="1600200"/>
            <a:ext cx="25815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5032" y="18013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15" name="Text 13"/>
          <p:cNvSpPr/>
          <p:nvPr/>
        </p:nvSpPr>
        <p:spPr>
          <a:xfrm>
            <a:off x="6425032" y="2020824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Yoğun Saat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25032" y="2496312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20:00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5032" y="301752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 sipariş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61475" y="1600200"/>
            <a:ext cx="25815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F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62643" y="18013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20" name="Text 18"/>
          <p:cNvSpPr/>
          <p:nvPr/>
        </p:nvSpPr>
        <p:spPr>
          <a:xfrm>
            <a:off x="9262643" y="2020824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Yoğun Gün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62643" y="2496312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62643" y="3017520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 sipariş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22192"/>
            <a:ext cx="25815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F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023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242816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Cirolu Şehir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" y="4718304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İstanbul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9808" y="5239512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1.590.697 TL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6252" y="3822192"/>
            <a:ext cx="25815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F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87420" y="4023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30" name="Text 28"/>
          <p:cNvSpPr/>
          <p:nvPr/>
        </p:nvSpPr>
        <p:spPr>
          <a:xfrm>
            <a:off x="3587420" y="4242816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Cirolu Kategori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87420" y="4718304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Elektronik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87420" y="5239512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%42,6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23864" y="3822192"/>
            <a:ext cx="25815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F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25032" y="4023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35" name="Text 33"/>
          <p:cNvSpPr/>
          <p:nvPr/>
        </p:nvSpPr>
        <p:spPr>
          <a:xfrm>
            <a:off x="6425032" y="4242816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Çok Kullanılan Ödeme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25032" y="4718304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PayPal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25032" y="5239512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%25,1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61475" y="3822192"/>
            <a:ext cx="25815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9E1"/>
            </a:solidFill>
            <a:prstDash val="solid"/>
          </a:ln>
          <a:effectLst>
            <a:outerShdw sx="100000" sy="100000" kx="0" ky="0" algn="bl" rotWithShape="0" blurRad="101600" dist="38100" dir="5400000">
              <a:srgbClr val="1B5E3F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262643" y="4023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/>
        </p:spPr>
      </p:sp>
      <p:sp>
        <p:nvSpPr>
          <p:cNvPr id="40" name="Text 38"/>
          <p:cNvSpPr/>
          <p:nvPr/>
        </p:nvSpPr>
        <p:spPr>
          <a:xfrm>
            <a:off x="9262643" y="4242816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Başarılı Çalışan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262643" y="4718304"/>
            <a:ext cx="21792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EMP_17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262643" y="5239512"/>
            <a:ext cx="2179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ciroda lider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Haziran 2026 Satış Raporu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Çok Satan Ürünler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adına göre toplam satış adedi (top 10)</a:t>
            </a:r>
            <a:endParaRPr lang="en-US" sz="1300" dirty="0"/>
          </a:p>
        </p:txBody>
      </p:sp>
      <p:pic>
        <p:nvPicPr>
          <p:cNvPr id="4" name="Image 0" descr="chart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40664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508760"/>
            <a:ext cx="3413455" cy="4709160"/>
          </a:xfrm>
          <a:prstGeom prst="roundRect">
            <a:avLst>
              <a:gd name="adj" fmla="val 2679"/>
            </a:avLst>
          </a:prstGeom>
          <a:solidFill>
            <a:srgbClr val="1B5E3F"/>
          </a:solidFill>
          <a:ln/>
          <a:effectLst>
            <a:outerShdw sx="100000" sy="100000" kx="0" ky="0" algn="bl" rotWithShape="0" blurRad="127000" dist="38100" dir="5400000">
              <a:srgbClr val="133A2B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03920" y="1920240"/>
            <a:ext cx="2864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5,44 M TL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64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Revenue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03920" y="2971800"/>
            <a:ext cx="2864815" cy="0"/>
          </a:xfrm>
          <a:prstGeom prst="line">
            <a:avLst/>
          </a:prstGeom>
          <a:noFill/>
          <a:ln w="12700">
            <a:solidFill>
              <a:srgbClr val="3E7A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0" y="3200400"/>
            <a:ext cx="286481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Powerbank en çok satan ürün olarak öne çıkıyor; elektronik aksesuarlar (kulaklık, mouse, akıllı saat) ilk sıralarda yoğunlaşıyor.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Haziran 2026 Satış Raporu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Saatlik Sipariş Yoğunluğu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içi saatlere göre sipariş sayısı dağılımı</a:t>
            </a:r>
            <a:endParaRPr lang="en-US" sz="1300" dirty="0"/>
          </a:p>
        </p:txBody>
      </p:sp>
      <p:pic>
        <p:nvPicPr>
          <p:cNvPr id="4" name="Image 0" descr="chart_h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1094415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98932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D9EDE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989320"/>
            <a:ext cx="106372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Zirve saat 20:00  </a:t>
            </a:r>
            <a:pPr algn="l" indent="0" marL="0">
              <a:buNone/>
            </a:pPr>
            <a:r>
              <a:rPr lang="en-US" sz="1100" dirty="0">
                <a:solidFill>
                  <a:srgbClr val="22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433 sipariş ile günün en yoğun anı. Akşam saatlerinde (17:00–20:00) talep belirgin şekilde artıyor.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Haftanın Günlerine Göre Siparişler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 bazında toplam sipariş sayısı (azalan sırada)</a:t>
            </a:r>
            <a:endParaRPr lang="en-US" sz="1300" dirty="0"/>
          </a:p>
        </p:txBody>
      </p:sp>
      <p:pic>
        <p:nvPicPr>
          <p:cNvPr id="4" name="Image 0" descr="chart_da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508760"/>
            <a:ext cx="3870655" cy="4709160"/>
          </a:xfrm>
          <a:prstGeom prst="roundRect">
            <a:avLst>
              <a:gd name="adj" fmla="val 2362"/>
            </a:avLst>
          </a:prstGeom>
          <a:solidFill>
            <a:srgbClr val="D9EDE1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920240"/>
            <a:ext cx="3322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597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046720" y="2560320"/>
            <a:ext cx="3322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Salı günü sipariş sayısı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46720" y="3154680"/>
            <a:ext cx="3322015" cy="0"/>
          </a:xfrm>
          <a:prstGeom prst="line">
            <a:avLst/>
          </a:prstGeom>
          <a:noFill/>
          <a:ln w="12700">
            <a:solidFill>
              <a:srgbClr val="8FBF9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3383280"/>
            <a:ext cx="332201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içi günler (özellikle Salı ve Pazartesi) hafta sonuna kıyasla daha yüksek sipariş hacmine sahip. Fark %10'un altında — dağılım nispeten dengeli.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Haziran 2026 Satış Raporu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 ve Ödeme Yöntemi Dağılımı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ciroya göre kırılım</a:t>
            </a:r>
            <a:endParaRPr lang="en-US" sz="1300" dirty="0"/>
          </a:p>
        </p:txBody>
      </p:sp>
      <p:pic>
        <p:nvPicPr>
          <p:cNvPr id="4" name="Image 0" descr="chart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212080" cy="4023360"/>
          </a:xfrm>
          <a:prstGeom prst="rect">
            <a:avLst/>
          </a:prstGeom>
        </p:spPr>
      </p:pic>
      <p:pic>
        <p:nvPicPr>
          <p:cNvPr id="5" name="Image 1" descr="chart_pay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212080" cy="4023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806440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D9EDE1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5806440"/>
            <a:ext cx="1063721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 %42,6 ile lider kategori. </a:t>
            </a:r>
            <a:pPr algn="l" indent="0" marL="0">
              <a:buNone/>
            </a:pPr>
            <a:r>
              <a:rPr lang="en-US" sz="1050" dirty="0">
                <a:solidFill>
                  <a:srgbClr val="22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yöntemleri dengeli dağılırken kayıtların %1,75'i "Unknown" — veri kalitesi iyileştirmesi gerekiyor.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Şehir Bazlı Ciro Dağılımı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ciro üreten 10 şehir</a:t>
            </a:r>
            <a:endParaRPr lang="en-US" sz="1300" dirty="0"/>
          </a:p>
        </p:txBody>
      </p:sp>
      <p:pic>
        <p:nvPicPr>
          <p:cNvPr id="4" name="Image 0" descr="chart_c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1094415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0350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D9EDE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603504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toplam cironun ~%29'unu tek başına oluşturuyor </a:t>
            </a:r>
            <a:pPr algn="l" indent="0" marL="0">
              <a:buNone/>
            </a:pPr>
            <a:r>
              <a:rPr lang="en-US" sz="1050" dirty="0">
                <a:solidFill>
                  <a:srgbClr val="22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coğrafi yoğunlaşma fırsat ve risk barındırıyor.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5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Çalışan Performansı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ciroya göre en yüksek performans gösteren 10 çalışan (bin TL)</a:t>
            </a:r>
            <a:endParaRPr lang="en-US" sz="1300" dirty="0"/>
          </a:p>
        </p:txBody>
      </p:sp>
      <p:pic>
        <p:nvPicPr>
          <p:cNvPr id="4" name="Image 0" descr="chart_employe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68096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508760"/>
            <a:ext cx="3139135" cy="4709160"/>
          </a:xfrm>
          <a:prstGeom prst="roundRect">
            <a:avLst>
              <a:gd name="adj" fmla="val 2913"/>
            </a:avLst>
          </a:prstGeom>
          <a:solidFill>
            <a:srgbClr val="1B5E3F"/>
          </a:solidFill>
          <a:ln/>
          <a:effectLst>
            <a:outerShdw sx="100000" sy="100000" kx="0" ky="0" algn="bl" rotWithShape="0" blurRad="127000" dist="38100" dir="5400000">
              <a:srgbClr val="133A2B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32520" y="1920240"/>
            <a:ext cx="26819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EMP_17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732520" y="2423160"/>
            <a:ext cx="26819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yüksek satış yapan çalışan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732520" y="2971800"/>
            <a:ext cx="2681935" cy="0"/>
          </a:xfrm>
          <a:prstGeom prst="line">
            <a:avLst/>
          </a:prstGeom>
          <a:noFill/>
          <a:ln w="12700">
            <a:solidFill>
              <a:srgbClr val="3E7A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3200400"/>
            <a:ext cx="268193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en üstteki 10 çalışan arasında görece dengeli; en düşük performans gösteren EMP_29 ile fark, ek koçluk/motivasyon fırsatı sunuyor.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Haziran 2026 Satış Raporu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905695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011680"/>
            <a:ext cx="5486400" cy="5486400"/>
          </a:xfrm>
          <a:prstGeom prst="ellipse">
            <a:avLst/>
          </a:prstGeom>
          <a:solidFill>
            <a:srgbClr val="1B5E3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5120640" cy="5120640"/>
          </a:xfrm>
          <a:prstGeom prst="ellipse">
            <a:avLst/>
          </a:prstGeom>
          <a:solidFill>
            <a:srgbClr val="4C8C6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 ve Stratejik Öneriler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2026 verilerinden çıkarılan dört temel aksiyon alanı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87188" cy="2148840"/>
          </a:xfrm>
          <a:prstGeom prst="roundRect">
            <a:avLst>
              <a:gd name="adj" fmla="val 4255"/>
            </a:avLst>
          </a:prstGeom>
          <a:solidFill>
            <a:srgbClr val="1E4B37"/>
          </a:solidFill>
          <a:ln w="12700">
            <a:solidFill>
              <a:srgbClr val="2E6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74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4875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Akşam Saatlerine Odaklanma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770632"/>
            <a:ext cx="48751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yoğun saat 20:00 (433 sipariş). Kampanya/bildirim gönderimleri ve müşteri hizmetleri kapasitesi akşam saatlerine göre planlanmalı.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5868" y="1691640"/>
            <a:ext cx="5387188" cy="2148840"/>
          </a:xfrm>
          <a:prstGeom prst="roundRect">
            <a:avLst>
              <a:gd name="adj" fmla="val 4255"/>
            </a:avLst>
          </a:prstGeom>
          <a:solidFill>
            <a:srgbClr val="1E4B37"/>
          </a:solidFill>
          <a:ln w="12700">
            <a:solidFill>
              <a:srgbClr val="2E6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874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11900" y="2377440"/>
            <a:ext cx="4875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Coğrafi Yoğunlaşma Riski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11900" y="2770632"/>
            <a:ext cx="48751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tek başına cironun ~%29'unu oluşturuyor (1.590.697 TL); Gaziantep en düşük (318.109 TL). Diğer şehirlerde büyüme potansiyeli değerlendirilmeli.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87188" cy="2148840"/>
          </a:xfrm>
          <a:prstGeom prst="roundRect">
            <a:avLst>
              <a:gd name="adj" fmla="val 4255"/>
            </a:avLst>
          </a:prstGeom>
          <a:solidFill>
            <a:srgbClr val="1E4B37"/>
          </a:solidFill>
          <a:ln w="12700">
            <a:solidFill>
              <a:srgbClr val="2E6B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343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4672" y="4846320"/>
            <a:ext cx="4875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Dengesizliği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5239512"/>
            <a:ext cx="48751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 açık ara lider, Kitap en geride. Kitap kategorisinde fiyatlandırma/promosyon stratejisi ya da kategoriden çıkış gözden geçirilmeli.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5868" y="4160520"/>
            <a:ext cx="5387188" cy="2148840"/>
          </a:xfrm>
          <a:prstGeom prst="roundRect">
            <a:avLst>
              <a:gd name="adj" fmla="val 4255"/>
            </a:avLst>
          </a:prstGeom>
          <a:solidFill>
            <a:srgbClr val="1E4B37"/>
          </a:solidFill>
          <a:ln w="12700">
            <a:solidFill>
              <a:srgbClr val="2E6B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1900" y="43434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11900" y="4846320"/>
            <a:ext cx="48751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Kalitesi Sorunu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1900" y="5239512"/>
            <a:ext cx="48751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yönteminde %1,75 "Unknown" kayıt var. Satış noktasında veri toplama sürecinin düzeltilmesi gerekiyor.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C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 — Fatmanur Erdem Sönmez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2026-07-28T13:18:56Z</dcterms:created>
  <dcterms:modified xsi:type="dcterms:W3CDTF">2026-07-28T13:18:56Z</dcterms:modified>
</cp:coreProperties>
</file>