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778240" y="-1371600"/>
            <a:ext cx="4114800" cy="45720"/>
          </a:xfrm>
          <a:prstGeom prst="rect">
            <a:avLst/>
          </a:prstGeom>
          <a:solidFill>
            <a:srgbClr val="5C9279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320000">
            <a:off x="8778240" y="-1234440"/>
            <a:ext cx="4114800" cy="45720"/>
          </a:xfrm>
          <a:prstGeom prst="rect">
            <a:avLst/>
          </a:prstGeom>
          <a:solidFill>
            <a:srgbClr val="5C9279">
              <a:alpha val="6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8778240" y="-1097280"/>
            <a:ext cx="4114800" cy="45720"/>
          </a:xfrm>
          <a:prstGeom prst="rect">
            <a:avLst/>
          </a:prstGeom>
          <a:solidFill>
            <a:srgbClr val="5C9279">
              <a:alpha val="6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320000">
            <a:off x="8778240" y="-960120"/>
            <a:ext cx="4114800" cy="45720"/>
          </a:xfrm>
          <a:prstGeom prst="rect">
            <a:avLst/>
          </a:prstGeom>
          <a:solidFill>
            <a:srgbClr val="5C9279">
              <a:alpha val="6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320000">
            <a:off x="8778240" y="-822960"/>
            <a:ext cx="4114800" cy="45720"/>
          </a:xfrm>
          <a:prstGeom prst="rect">
            <a:avLst/>
          </a:prstGeom>
          <a:solidFill>
            <a:srgbClr val="5C9279">
              <a:alpha val="6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320000">
            <a:off x="8778240" y="-685800"/>
            <a:ext cx="4114800" cy="45720"/>
          </a:xfrm>
          <a:prstGeom prst="rect">
            <a:avLst/>
          </a:prstGeom>
          <a:solidFill>
            <a:srgbClr val="5C9279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320000">
            <a:off x="8778240" y="-548640"/>
            <a:ext cx="4114800" cy="45720"/>
          </a:xfrm>
          <a:prstGeom prst="rect">
            <a:avLst/>
          </a:prstGeom>
          <a:solidFill>
            <a:srgbClr val="5C9279">
              <a:alpha val="5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320000">
            <a:off x="8778240" y="-411480"/>
            <a:ext cx="4114800" cy="45720"/>
          </a:xfrm>
          <a:prstGeom prst="rect">
            <a:avLst/>
          </a:prstGeom>
          <a:solidFill>
            <a:srgbClr val="5C9279">
              <a:alpha val="56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320000">
            <a:off x="8778240" y="-274320"/>
            <a:ext cx="4114800" cy="45720"/>
          </a:xfrm>
          <a:prstGeom prst="rect">
            <a:avLst/>
          </a:prstGeom>
          <a:solidFill>
            <a:srgbClr val="5C9279">
              <a:alpha val="5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320000">
            <a:off x="8778240" y="-137160"/>
            <a:ext cx="4114800" cy="45720"/>
          </a:xfrm>
          <a:prstGeom prst="rect">
            <a:avLst/>
          </a:prstGeom>
          <a:solidFill>
            <a:srgbClr val="5C9279">
              <a:alpha val="5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1320000">
            <a:off x="8778240" y="0"/>
            <a:ext cx="4114800" cy="45720"/>
          </a:xfrm>
          <a:prstGeom prst="rect">
            <a:avLst/>
          </a:prstGeom>
          <a:solidFill>
            <a:srgbClr val="5C9279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-1320000">
            <a:off x="8778240" y="137160"/>
            <a:ext cx="4114800" cy="45720"/>
          </a:xfrm>
          <a:prstGeom prst="rect">
            <a:avLst/>
          </a:prstGeom>
          <a:solidFill>
            <a:srgbClr val="5C9279">
              <a:alpha val="4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1320000">
            <a:off x="8778240" y="274320"/>
            <a:ext cx="4114800" cy="45720"/>
          </a:xfrm>
          <a:prstGeom prst="rect">
            <a:avLst/>
          </a:prstGeom>
          <a:solidFill>
            <a:srgbClr val="5C9279">
              <a:alpha val="46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-1320000">
            <a:off x="8778240" y="411480"/>
            <a:ext cx="4114800" cy="45720"/>
          </a:xfrm>
          <a:prstGeom prst="rect">
            <a:avLst/>
          </a:prstGeom>
          <a:solidFill>
            <a:srgbClr val="5C9279">
              <a:alpha val="44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1320000">
            <a:off x="8778240" y="548640"/>
            <a:ext cx="4114800" cy="45720"/>
          </a:xfrm>
          <a:prstGeom prst="rect">
            <a:avLst/>
          </a:prstGeom>
          <a:solidFill>
            <a:srgbClr val="5C9279">
              <a:alpha val="4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-1320000">
            <a:off x="8778240" y="685800"/>
            <a:ext cx="4114800" cy="45720"/>
          </a:xfrm>
          <a:prstGeom prst="rect">
            <a:avLst/>
          </a:prstGeom>
          <a:solidFill>
            <a:srgbClr val="5C9279">
              <a:alpha val="4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1320000">
            <a:off x="-914400" y="5120640"/>
            <a:ext cx="3657600" cy="45720"/>
          </a:xfrm>
          <a:prstGeom prst="rect">
            <a:avLst/>
          </a:prstGeom>
          <a:solidFill>
            <a:srgbClr val="2F6844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-1320000">
            <a:off x="-914400" y="5266944"/>
            <a:ext cx="3657600" cy="45720"/>
          </a:xfrm>
          <a:prstGeom prst="rect">
            <a:avLst/>
          </a:prstGeom>
          <a:solidFill>
            <a:srgbClr val="2F6844">
              <a:alpha val="5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1320000">
            <a:off x="-914400" y="5413248"/>
            <a:ext cx="3657600" cy="45720"/>
          </a:xfrm>
          <a:prstGeom prst="rect">
            <a:avLst/>
          </a:prstGeom>
          <a:solidFill>
            <a:srgbClr val="2F6844">
              <a:alpha val="56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-1320000">
            <a:off x="-914400" y="5559552"/>
            <a:ext cx="3657600" cy="45720"/>
          </a:xfrm>
          <a:prstGeom prst="rect">
            <a:avLst/>
          </a:prstGeom>
          <a:solidFill>
            <a:srgbClr val="2F6844">
              <a:alpha val="54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1320000">
            <a:off x="-914400" y="5705856"/>
            <a:ext cx="3657600" cy="45720"/>
          </a:xfrm>
          <a:prstGeom prst="rect">
            <a:avLst/>
          </a:prstGeom>
          <a:solidFill>
            <a:srgbClr val="2F6844">
              <a:alpha val="5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-1320000">
            <a:off x="-914400" y="5852160"/>
            <a:ext cx="3657600" cy="45720"/>
          </a:xfrm>
          <a:prstGeom prst="rect">
            <a:avLst/>
          </a:prstGeom>
          <a:solidFill>
            <a:srgbClr val="2F6844">
              <a:alpha val="5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-1320000">
            <a:off x="-914400" y="5998464"/>
            <a:ext cx="3657600" cy="45720"/>
          </a:xfrm>
          <a:prstGeom prst="rect">
            <a:avLst/>
          </a:prstGeom>
          <a:solidFill>
            <a:srgbClr val="2F6844">
              <a:alpha val="4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-1320000">
            <a:off x="-914400" y="6144768"/>
            <a:ext cx="3657600" cy="45720"/>
          </a:xfrm>
          <a:prstGeom prst="rect">
            <a:avLst/>
          </a:prstGeom>
          <a:solidFill>
            <a:srgbClr val="2F6844">
              <a:alpha val="46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-1320000">
            <a:off x="-914400" y="6291072"/>
            <a:ext cx="3657600" cy="45720"/>
          </a:xfrm>
          <a:prstGeom prst="rect">
            <a:avLst/>
          </a:prstGeom>
          <a:solidFill>
            <a:srgbClr val="2F6844">
              <a:alpha val="44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-1320000">
            <a:off x="-914400" y="6437376"/>
            <a:ext cx="3657600" cy="45720"/>
          </a:xfrm>
          <a:prstGeom prst="rect">
            <a:avLst/>
          </a:prstGeom>
          <a:solidFill>
            <a:srgbClr val="2F6844">
              <a:alpha val="42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-1320000">
            <a:off x="-914400" y="6583680"/>
            <a:ext cx="3657600" cy="45720"/>
          </a:xfrm>
          <a:prstGeom prst="rect">
            <a:avLst/>
          </a:prstGeom>
          <a:solidFill>
            <a:srgbClr val="2F6844">
              <a:alpha val="4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-1320000">
            <a:off x="-914400" y="6729984"/>
            <a:ext cx="3657600" cy="45720"/>
          </a:xfrm>
          <a:prstGeom prst="rect">
            <a:avLst/>
          </a:prstGeom>
          <a:solidFill>
            <a:srgbClr val="2F6844">
              <a:alpha val="3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713232"/>
            <a:ext cx="128016" cy="201168"/>
          </a:xfrm>
          <a:prstGeom prst="rect">
            <a:avLst/>
          </a:prstGeom>
          <a:solidFill>
            <a:srgbClr val="5C9279"/>
          </a:solidFill>
          <a:ln/>
        </p:spPr>
      </p:sp>
      <p:sp>
        <p:nvSpPr>
          <p:cNvPr id="31" name="Shape 29"/>
          <p:cNvSpPr/>
          <p:nvPr/>
        </p:nvSpPr>
        <p:spPr>
          <a:xfrm>
            <a:off x="941832" y="566928"/>
            <a:ext cx="128016" cy="347472"/>
          </a:xfrm>
          <a:prstGeom prst="rect">
            <a:avLst/>
          </a:prstGeom>
          <a:solidFill>
            <a:srgbClr val="2F6844"/>
          </a:solidFill>
          <a:ln/>
        </p:spPr>
      </p:sp>
      <p:sp>
        <p:nvSpPr>
          <p:cNvPr id="32" name="Shape 30"/>
          <p:cNvSpPr/>
          <p:nvPr/>
        </p:nvSpPr>
        <p:spPr>
          <a:xfrm>
            <a:off x="1106424" y="420624"/>
            <a:ext cx="128016" cy="493776"/>
          </a:xfrm>
          <a:prstGeom prst="rect">
            <a:avLst/>
          </a:prstGeom>
          <a:solidFill>
            <a:srgbClr val="9FC0AA"/>
          </a:solidFill>
          <a:ln/>
        </p:spPr>
      </p:sp>
      <p:sp>
        <p:nvSpPr>
          <p:cNvPr id="33" name="Text 31"/>
          <p:cNvSpPr/>
          <p:nvPr/>
        </p:nvSpPr>
        <p:spPr>
          <a:xfrm>
            <a:off x="1325880" y="5029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2331720"/>
            <a:ext cx="54864" cy="1737360"/>
          </a:xfrm>
          <a:prstGeom prst="rect">
            <a:avLst/>
          </a:prstGeom>
          <a:solidFill>
            <a:srgbClr val="5C9279"/>
          </a:solidFill>
          <a:ln/>
        </p:spPr>
      </p:sp>
      <p:sp>
        <p:nvSpPr>
          <p:cNvPr id="35" name="Text 33"/>
          <p:cNvSpPr/>
          <p:nvPr/>
        </p:nvSpPr>
        <p:spPr>
          <a:xfrm>
            <a:off x="1051560" y="2286000"/>
            <a:ext cx="8686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9FC0A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NOVAMARKET</a:t>
            </a:r>
            <a:endParaRPr lang="en-US" sz="3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9FC0A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VERİ ANALİZİ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1051560" y="3429000"/>
            <a:ext cx="91440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YÖNETİM EKİBİ İÇİN</a:t>
            </a:r>
            <a:endParaRPr lang="en-US" sz="3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YENİ ANALİZ ÖNERİLERİ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1078992" y="5257800"/>
            <a:ext cx="2926080" cy="0"/>
          </a:xfrm>
          <a:prstGeom prst="line">
            <a:avLst/>
          </a:prstGeom>
          <a:noFill/>
          <a:ln w="15875">
            <a:solidFill>
              <a:srgbClr val="5C927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51560" y="5394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Fatmanur Erdem Sönmez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411480"/>
            <a:ext cx="329184" cy="329184"/>
          </a:xfrm>
          <a:prstGeom prst="ellipse">
            <a:avLst/>
          </a:prstGeom>
          <a:solidFill>
            <a:srgbClr val="16261F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" y="516636"/>
            <a:ext cx="118872" cy="118872"/>
          </a:xfrm>
          <a:prstGeom prst="ellipse">
            <a:avLst/>
          </a:prstGeom>
          <a:solidFill>
            <a:srgbClr val="9FC0AA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64592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 Çalışmanın Amacı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48640" y="23317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satış verileri üzerinden şirketin karar alma süreçlerini destekleyecek analiz önerileri geliştirmek.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66744"/>
            <a:ext cx="237744" cy="237744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611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performansını artırmak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197096"/>
            <a:ext cx="237744" cy="237744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14223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davranışlarını anlamak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727448"/>
            <a:ext cx="237744" cy="237744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67258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Karlılığı yükseltmek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237744" cy="237744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25" name="Text 23"/>
          <p:cNvSpPr/>
          <p:nvPr/>
        </p:nvSpPr>
        <p:spPr>
          <a:xfrm>
            <a:off x="960120" y="520293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odaklı karar almak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949440" y="1828800"/>
            <a:ext cx="4754880" cy="4754880"/>
          </a:xfrm>
          <a:prstGeom prst="ellipse">
            <a:avLst/>
          </a:prstGeom>
          <a:solidFill>
            <a:srgbClr val="E7F0E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43800" y="2423160"/>
            <a:ext cx="3566160" cy="3566160"/>
          </a:xfrm>
          <a:prstGeom prst="ellipse">
            <a:avLst/>
          </a:prstGeom>
          <a:solidFill>
            <a:srgbClr val="BCD8C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38160" y="3017520"/>
            <a:ext cx="2377440" cy="2377440"/>
          </a:xfrm>
          <a:prstGeom prst="ellipse">
            <a:avLst/>
          </a:prstGeom>
          <a:solidFill>
            <a:srgbClr val="5C927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32520" y="3611880"/>
            <a:ext cx="1188720" cy="1188720"/>
          </a:xfrm>
          <a:prstGeom prst="ellipse">
            <a:avLst/>
          </a:prstGeom>
          <a:solidFill>
            <a:srgbClr val="2F68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25712" y="4005072"/>
            <a:ext cx="402336" cy="402336"/>
          </a:xfrm>
          <a:prstGeom prst="ellipse">
            <a:avLst/>
          </a:prstGeom>
          <a:solidFill>
            <a:srgbClr val="1626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Yüksek Ciro Hangi Şehirde?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070860"/>
            <a:ext cx="3515258" cy="2423160"/>
          </a:xfrm>
          <a:prstGeom prst="roundRect">
            <a:avLst>
              <a:gd name="adj" fmla="val 3396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2720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25374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710940"/>
            <a:ext cx="300319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bazında toplam Revenue analizi yapılması.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070860"/>
            <a:ext cx="3515258" cy="2423160"/>
          </a:xfrm>
          <a:prstGeom prst="roundRect">
            <a:avLst>
              <a:gd name="adj" fmla="val 3396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2720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25374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710940"/>
            <a:ext cx="300319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Yatırım yapılacak şehirler belirlenebilir. Hangi bölgelerin daha yüksek gelir potansiyeli taşıdığı görselleştirilerek stratejik kararlar desteklenir.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070860"/>
            <a:ext cx="3515258" cy="2423160"/>
          </a:xfrm>
          <a:prstGeom prst="roundRect">
            <a:avLst>
              <a:gd name="adj" fmla="val 3396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2720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25374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710940"/>
            <a:ext cx="300319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Ürün Kategorisi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48640" y="2377440"/>
            <a:ext cx="110944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ürün kategorisi en fazla gelir getiriyor?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28060"/>
            <a:ext cx="3515258" cy="1837944"/>
          </a:xfrm>
          <a:prstGeom prst="roundRect">
            <a:avLst>
              <a:gd name="adj" fmla="val 4478"/>
            </a:avLst>
          </a:prstGeom>
          <a:solidFill>
            <a:srgbClr val="E7F0EA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7292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71094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4672" y="4168140"/>
            <a:ext cx="300319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bazında satış analizi yapılması.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38218" y="3528060"/>
            <a:ext cx="3515258" cy="1837944"/>
          </a:xfrm>
          <a:prstGeom prst="roundRect">
            <a:avLst>
              <a:gd name="adj" fmla="val 4478"/>
            </a:avLst>
          </a:prstGeom>
          <a:solidFill>
            <a:srgbClr val="E7F0EA"/>
          </a:solidFill>
          <a:ln/>
        </p:spPr>
      </p:sp>
      <p:sp>
        <p:nvSpPr>
          <p:cNvPr id="22" name="Shape 20"/>
          <p:cNvSpPr/>
          <p:nvPr/>
        </p:nvSpPr>
        <p:spPr>
          <a:xfrm>
            <a:off x="4539386" y="37292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3" name="Text 21"/>
          <p:cNvSpPr/>
          <p:nvPr/>
        </p:nvSpPr>
        <p:spPr>
          <a:xfrm>
            <a:off x="4978298" y="371094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94250" y="4168140"/>
            <a:ext cx="300319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Karlılığı yüksek ürünlere odaklanılarak kaynak ve bütçe daha verimli kullanılır.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27797" y="3528060"/>
            <a:ext cx="3515258" cy="1837944"/>
          </a:xfrm>
          <a:prstGeom prst="roundRect">
            <a:avLst>
              <a:gd name="adj" fmla="val 4478"/>
            </a:avLst>
          </a:prstGeom>
          <a:solidFill>
            <a:srgbClr val="E7F0EA"/>
          </a:solidFill>
          <a:ln/>
        </p:spPr>
      </p:sp>
      <p:sp>
        <p:nvSpPr>
          <p:cNvPr id="26" name="Shape 24"/>
          <p:cNvSpPr/>
          <p:nvPr/>
        </p:nvSpPr>
        <p:spPr>
          <a:xfrm>
            <a:off x="8328965" y="372922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7" name="Text 25"/>
          <p:cNvSpPr/>
          <p:nvPr/>
        </p:nvSpPr>
        <p:spPr>
          <a:xfrm>
            <a:off x="8767877" y="371094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83829" y="4168140"/>
            <a:ext cx="300319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Mobil mi Web mi Daha Fazla Satış Getiriyor?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548640" y="2967990"/>
            <a:ext cx="5364328" cy="2478024"/>
          </a:xfrm>
          <a:prstGeom prst="roundRect">
            <a:avLst>
              <a:gd name="adj" fmla="val 3690"/>
            </a:avLst>
          </a:prstGeom>
          <a:solidFill>
            <a:srgbClr val="FFFFFF"/>
          </a:solidFill>
          <a:ln w="12700">
            <a:solidFill>
              <a:srgbClr val="D7E7DD"/>
            </a:solidFill>
            <a:prstDash val="solid"/>
          </a:ln>
          <a:effectLst>
            <a:outerShdw sx="100000" sy="100000" kx="0" ky="0" algn="bl" rotWithShape="0" blurRad="101600" dist="25400" dir="5400000">
              <a:srgbClr val="1B4B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242310"/>
            <a:ext cx="502920" cy="502920"/>
          </a:xfrm>
          <a:prstGeom prst="ellipse">
            <a:avLst/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231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260598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Kanal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3928110"/>
            <a:ext cx="4724248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Channel bazında karşılaştırmalı satış analizi yapılması.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Önemli: Mobil kullanıcıların satın alma davranışları incelenerek pazarlama bütçesi doğru yönlendirilebilir.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Araç: Power BI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2967990"/>
            <a:ext cx="5364328" cy="2478024"/>
          </a:xfrm>
          <a:prstGeom prst="roundRect">
            <a:avLst>
              <a:gd name="adj" fmla="val 3690"/>
            </a:avLst>
          </a:prstGeom>
          <a:solidFill>
            <a:srgbClr val="FFFFFF"/>
          </a:solidFill>
          <a:ln w="12700">
            <a:solidFill>
              <a:srgbClr val="D7E7DD"/>
            </a:solidFill>
            <a:prstDash val="solid"/>
          </a:ln>
          <a:effectLst>
            <a:outerShdw sx="100000" sy="100000" kx="0" ky="0" algn="bl" rotWithShape="0" blurRad="101600" dist="25400" dir="5400000">
              <a:srgbClr val="1B4B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3048" y="3242310"/>
            <a:ext cx="502920" cy="502920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48" y="324231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93128" y="3260598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Kanal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98768" y="3928110"/>
            <a:ext cx="4724248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Öneri: Web üzerinden gerçekleşen satışların mobil ile karşılaştırmalı analizi.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Önemli: Hangi kanalın daha yüksek dönüşüm sağladığı belirlenerek dijital strateji optimize edilebilir.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Araç: Power BI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Yeni Müşteriler mi Daha Değerli?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2780"/>
            <a:ext cx="3515258" cy="2130552"/>
          </a:xfrm>
          <a:prstGeom prst="roundRect">
            <a:avLst>
              <a:gd name="adj" fmla="val 3863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3939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37566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832860"/>
            <a:ext cx="300319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 analizi yapılması.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192780"/>
            <a:ext cx="3515258" cy="2130552"/>
          </a:xfrm>
          <a:prstGeom prst="roundRect">
            <a:avLst>
              <a:gd name="adj" fmla="val 3863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3939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37566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832860"/>
            <a:ext cx="300319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ve mevcut müşterilerin harcama davranışları karşılaştırılarak sadakat stratejileri geliştirilebilir.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192780"/>
            <a:ext cx="3515258" cy="2130552"/>
          </a:xfrm>
          <a:prstGeom prst="roundRect">
            <a:avLst>
              <a:gd name="adj" fmla="val 3863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3939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37566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832860"/>
            <a:ext cx="300319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İndirim Oranı Satışları Nasıl Etkiliyor?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ile Revenue ilişkisini incele.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Kampanyaların verimliliği ölçülür.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6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 Çok Kullanılan Ödeme Yöntemi Hangisi?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314700"/>
            <a:ext cx="3515258" cy="1837944"/>
          </a:xfrm>
          <a:prstGeom prst="roundRect">
            <a:avLst>
              <a:gd name="adj" fmla="val 4478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5158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49758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954780"/>
            <a:ext cx="300319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analizi yapılması.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314700"/>
            <a:ext cx="3515258" cy="1837944"/>
          </a:xfrm>
          <a:prstGeom prst="roundRect">
            <a:avLst>
              <a:gd name="adj" fmla="val 4478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5158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49758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954780"/>
            <a:ext cx="300319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Ödeme deneyimi geliştirilebilir ve müşteri tercihlerine göre ödeme altyapısı optimize edilebilir.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314700"/>
            <a:ext cx="3515258" cy="1837944"/>
          </a:xfrm>
          <a:prstGeom prst="roundRect">
            <a:avLst>
              <a:gd name="adj" fmla="val 4478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5158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49758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954780"/>
            <a:ext cx="3003194" cy="969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Saatlik Satış Yoğunluğu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bazlı satış analizi yapılması.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planlaması ve vardiya optimizasyonu yapılabilir.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Çalışan Performans Karşılaştırması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192780"/>
            <a:ext cx="3515258" cy="2130552"/>
          </a:xfrm>
          <a:prstGeom prst="roundRect">
            <a:avLst>
              <a:gd name="adj" fmla="val 3863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3939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37566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832860"/>
            <a:ext cx="300319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bazında Revenue analizi yapılması.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192780"/>
            <a:ext cx="3515258" cy="2130552"/>
          </a:xfrm>
          <a:prstGeom prst="roundRect">
            <a:avLst>
              <a:gd name="adj" fmla="val 3863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3939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37566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832860"/>
            <a:ext cx="300319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Başarılı çalışanlar belirlenerek performans yönetimi güçlendirilebilir ve takım verimliliği artırılabilir.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192780"/>
            <a:ext cx="3515258" cy="2130552"/>
          </a:xfrm>
          <a:prstGeom prst="roundRect">
            <a:avLst>
              <a:gd name="adj" fmla="val 3863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39394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37566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832860"/>
            <a:ext cx="3003194" cy="1261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554480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Yaş Grupları Hangi Ürünleri Tercih Ediyor?</a:t>
            </a:r>
            <a:endParaRPr lang="en-US" sz="2500" dirty="0"/>
          </a:p>
        </p:txBody>
      </p:sp>
      <p:sp>
        <p:nvSpPr>
          <p:cNvPr id="16" name="Shape 14"/>
          <p:cNvSpPr/>
          <p:nvPr/>
        </p:nvSpPr>
        <p:spPr>
          <a:xfrm>
            <a:off x="548640" y="2967990"/>
            <a:ext cx="5364328" cy="2478024"/>
          </a:xfrm>
          <a:prstGeom prst="roundRect">
            <a:avLst>
              <a:gd name="adj" fmla="val 3690"/>
            </a:avLst>
          </a:prstGeom>
          <a:solidFill>
            <a:srgbClr val="FFFFFF"/>
          </a:solidFill>
          <a:ln w="12700">
            <a:solidFill>
              <a:srgbClr val="D7E7DD"/>
            </a:solidFill>
            <a:prstDash val="solid"/>
          </a:ln>
          <a:effectLst>
            <a:outerShdw sx="100000" sy="100000" kx="0" ky="0" algn="bl" rotWithShape="0" blurRad="101600" dist="25400" dir="5400000">
              <a:srgbClr val="1B4B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242310"/>
            <a:ext cx="502920" cy="502920"/>
          </a:xfrm>
          <a:prstGeom prst="ellipse">
            <a:avLst/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231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63040" y="3260598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 &amp; Araç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3928110"/>
            <a:ext cx="4724248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ile Product Category karşılaştırması yapılması önerilmektedir. Farklı yaş gruplarının hangi ürün kategorilerini tercih ettiği Python ve Power BI kullanılarak analiz edilecektir.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Araç: Python + Power BI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278728" y="2967990"/>
            <a:ext cx="5364328" cy="2478024"/>
          </a:xfrm>
          <a:prstGeom prst="roundRect">
            <a:avLst>
              <a:gd name="adj" fmla="val 3690"/>
            </a:avLst>
          </a:prstGeom>
          <a:solidFill>
            <a:srgbClr val="FFFFFF"/>
          </a:solidFill>
          <a:ln w="12700">
            <a:solidFill>
              <a:srgbClr val="D7E7DD"/>
            </a:solidFill>
            <a:prstDash val="solid"/>
          </a:ln>
          <a:effectLst>
            <a:outerShdw sx="100000" sy="100000" kx="0" ky="0" algn="bl" rotWithShape="0" blurRad="101600" dist="25400" dir="5400000">
              <a:srgbClr val="1B4B33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53048" y="3242310"/>
            <a:ext cx="502920" cy="502920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23" name="Text 21"/>
          <p:cNvSpPr/>
          <p:nvPr/>
        </p:nvSpPr>
        <p:spPr>
          <a:xfrm>
            <a:off x="6553048" y="324231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193128" y="3260598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598768" y="3928110"/>
            <a:ext cx="4724248" cy="128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 kitle daha doğru belirlenebilir. Yaş segmentlerine göre kişiselleştirilmiş pazarlama stratejileri geliştirilebilir. Ürün portföyü demografik taleplere göre optimize edilebilir.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D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3" name="Shape 1"/>
          <p:cNvSpPr/>
          <p:nvPr/>
        </p:nvSpPr>
        <p:spPr>
          <a:xfrm rot="-1080000">
            <a:off x="9082735" y="-320040"/>
            <a:ext cx="2926080" cy="41148"/>
          </a:xfrm>
          <a:prstGeom prst="rect">
            <a:avLst/>
          </a:prstGeom>
          <a:solidFill>
            <a:srgbClr val="5C9279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080000">
            <a:off x="9082735" y="-219456"/>
            <a:ext cx="2926080" cy="41148"/>
          </a:xfrm>
          <a:prstGeom prst="rect">
            <a:avLst/>
          </a:prstGeom>
          <a:solidFill>
            <a:srgbClr val="5C9279">
              <a:alpha val="73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080000">
            <a:off x="9082735" y="-118872"/>
            <a:ext cx="2926080" cy="41148"/>
          </a:xfrm>
          <a:prstGeom prst="rect">
            <a:avLst/>
          </a:prstGeom>
          <a:solidFill>
            <a:srgbClr val="5C9279">
              <a:alpha val="71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080000">
            <a:off x="9082735" y="-18288"/>
            <a:ext cx="2926080" cy="41148"/>
          </a:xfrm>
          <a:prstGeom prst="rect">
            <a:avLst/>
          </a:prstGeom>
          <a:solidFill>
            <a:srgbClr val="5C9279">
              <a:alpha val="69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080000">
            <a:off x="9082735" y="82296"/>
            <a:ext cx="2926080" cy="41148"/>
          </a:xfrm>
          <a:prstGeom prst="rect">
            <a:avLst/>
          </a:prstGeom>
          <a:solidFill>
            <a:srgbClr val="5C9279">
              <a:alpha val="67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080000">
            <a:off x="9082735" y="182880"/>
            <a:ext cx="2926080" cy="41148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080000">
            <a:off x="9082735" y="283464"/>
            <a:ext cx="2926080" cy="41148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080000">
            <a:off x="9082735" y="384048"/>
            <a:ext cx="2926080" cy="41148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080000">
            <a:off x="9082735" y="484632"/>
            <a:ext cx="2926080" cy="41148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256032"/>
            <a:ext cx="640080" cy="640080"/>
          </a:xfrm>
          <a:prstGeom prst="ellipse">
            <a:avLst/>
          </a:prstGeom>
          <a:solidFill>
            <a:srgbClr val="2F6844"/>
          </a:solidFill>
          <a:ln w="12700">
            <a:solidFill>
              <a:srgbClr val="9FC0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603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97280" y="365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ANALİZ 10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1600200"/>
            <a:ext cx="110944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Haftanın Hangi Günü Satışlar Zirve Yapıyor?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548640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2F6844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ÖNERİ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Name analizi yapılması.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8218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21" name="Shape 19"/>
          <p:cNvSpPr/>
          <p:nvPr/>
        </p:nvSpPr>
        <p:spPr>
          <a:xfrm>
            <a:off x="4539386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5C9279"/>
          </a:solidFill>
          <a:ln/>
        </p:spPr>
      </p:sp>
      <p:sp>
        <p:nvSpPr>
          <p:cNvPr id="22" name="Text 20"/>
          <p:cNvSpPr/>
          <p:nvPr/>
        </p:nvSpPr>
        <p:spPr>
          <a:xfrm>
            <a:off x="4978298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94250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Kampanyalar doğru zamana planlanabilir.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127797" y="3318510"/>
            <a:ext cx="3515258" cy="1828800"/>
          </a:xfrm>
          <a:prstGeom prst="roundRect">
            <a:avLst>
              <a:gd name="adj" fmla="val 4500"/>
            </a:avLst>
          </a:prstGeom>
          <a:solidFill>
            <a:srgbClr val="E7F0EA"/>
          </a:solidFill>
          <a:ln/>
        </p:spPr>
      </p:sp>
      <p:sp>
        <p:nvSpPr>
          <p:cNvPr id="25" name="Shape 23"/>
          <p:cNvSpPr/>
          <p:nvPr/>
        </p:nvSpPr>
        <p:spPr>
          <a:xfrm>
            <a:off x="8328965" y="351967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6261F"/>
          </a:solidFill>
          <a:ln/>
        </p:spPr>
      </p:sp>
      <p:sp>
        <p:nvSpPr>
          <p:cNvPr id="26" name="Text 24"/>
          <p:cNvSpPr/>
          <p:nvPr/>
        </p:nvSpPr>
        <p:spPr>
          <a:xfrm>
            <a:off x="8767877" y="3501390"/>
            <a:ext cx="26922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83829" y="3958590"/>
            <a:ext cx="300319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7395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NovaMarket · Veri Analizi Önerileri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0362895" y="6473952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C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2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320000">
            <a:off x="8595360" y="-1280160"/>
            <a:ext cx="4206240" cy="45720"/>
          </a:xfrm>
          <a:prstGeom prst="rect">
            <a:avLst/>
          </a:prstGeom>
          <a:solidFill>
            <a:srgbClr val="5C9279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1320000">
            <a:off x="8595360" y="-1143000"/>
            <a:ext cx="4206240" cy="45720"/>
          </a:xfrm>
          <a:prstGeom prst="rect">
            <a:avLst/>
          </a:prstGeom>
          <a:solidFill>
            <a:srgbClr val="5C9279">
              <a:alpha val="63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-1320000">
            <a:off x="8595360" y="-1005840"/>
            <a:ext cx="4206240" cy="45720"/>
          </a:xfrm>
          <a:prstGeom prst="rect">
            <a:avLst/>
          </a:prstGeom>
          <a:solidFill>
            <a:srgbClr val="5C9279">
              <a:alpha val="61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320000">
            <a:off x="8595360" y="-868680"/>
            <a:ext cx="4206240" cy="45720"/>
          </a:xfrm>
          <a:prstGeom prst="rect">
            <a:avLst/>
          </a:prstGeom>
          <a:solidFill>
            <a:srgbClr val="5C9279">
              <a:alpha val="59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-1320000">
            <a:off x="8595360" y="-731520"/>
            <a:ext cx="4206240" cy="45720"/>
          </a:xfrm>
          <a:prstGeom prst="rect">
            <a:avLst/>
          </a:prstGeom>
          <a:solidFill>
            <a:srgbClr val="5C9279">
              <a:alpha val="57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-1320000">
            <a:off x="8595360" y="-594360"/>
            <a:ext cx="4206240" cy="45720"/>
          </a:xfrm>
          <a:prstGeom prst="rect">
            <a:avLst/>
          </a:prstGeom>
          <a:solidFill>
            <a:srgbClr val="5C9279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-1320000">
            <a:off x="8595360" y="-457200"/>
            <a:ext cx="4206240" cy="45720"/>
          </a:xfrm>
          <a:prstGeom prst="rect">
            <a:avLst/>
          </a:prstGeom>
          <a:solidFill>
            <a:srgbClr val="5C9279">
              <a:alpha val="53000"/>
            </a:srgbClr>
          </a:solidFill>
          <a:ln/>
        </p:spPr>
      </p:sp>
      <p:sp>
        <p:nvSpPr>
          <p:cNvPr id="9" name="Shape 7"/>
          <p:cNvSpPr/>
          <p:nvPr/>
        </p:nvSpPr>
        <p:spPr>
          <a:xfrm rot="-1320000">
            <a:off x="8595360" y="-320040"/>
            <a:ext cx="4206240" cy="45720"/>
          </a:xfrm>
          <a:prstGeom prst="rect">
            <a:avLst/>
          </a:prstGeom>
          <a:solidFill>
            <a:srgbClr val="5C9279">
              <a:alpha val="51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 rot="-1320000">
            <a:off x="8595360" y="-182880"/>
            <a:ext cx="4206240" cy="45720"/>
          </a:xfrm>
          <a:prstGeom prst="rect">
            <a:avLst/>
          </a:prstGeom>
          <a:solidFill>
            <a:srgbClr val="5C9279">
              <a:alpha val="49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 rot="-1320000">
            <a:off x="8595360" y="-45720"/>
            <a:ext cx="4206240" cy="45720"/>
          </a:xfrm>
          <a:prstGeom prst="rect">
            <a:avLst/>
          </a:prstGeom>
          <a:solidFill>
            <a:srgbClr val="5C9279">
              <a:alpha val="47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 rot="-1320000">
            <a:off x="8595360" y="91440"/>
            <a:ext cx="4206240" cy="45720"/>
          </a:xfrm>
          <a:prstGeom prst="rect">
            <a:avLst/>
          </a:prstGeom>
          <a:solidFill>
            <a:srgbClr val="5C9279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 rot="-1320000">
            <a:off x="8595360" y="228600"/>
            <a:ext cx="4206240" cy="45720"/>
          </a:xfrm>
          <a:prstGeom prst="rect">
            <a:avLst/>
          </a:prstGeom>
          <a:solidFill>
            <a:srgbClr val="5C9279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 rot="-1320000">
            <a:off x="8595360" y="365760"/>
            <a:ext cx="4206240" cy="45720"/>
          </a:xfrm>
          <a:prstGeom prst="rect">
            <a:avLst/>
          </a:prstGeom>
          <a:solidFill>
            <a:srgbClr val="5C9279">
              <a:alpha val="41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 rot="-1320000">
            <a:off x="8595360" y="502920"/>
            <a:ext cx="4206240" cy="45720"/>
          </a:xfrm>
          <a:prstGeom prst="rect">
            <a:avLst/>
          </a:prstGeom>
          <a:solidFill>
            <a:srgbClr val="5C9279">
              <a:alpha val="3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 rot="-1320000">
            <a:off x="8595360" y="640080"/>
            <a:ext cx="4206240" cy="45720"/>
          </a:xfrm>
          <a:prstGeom prst="rect">
            <a:avLst/>
          </a:prstGeom>
          <a:solidFill>
            <a:srgbClr val="5C9279">
              <a:alpha val="37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 rot="-1320000">
            <a:off x="8595360" y="777240"/>
            <a:ext cx="4206240" cy="45720"/>
          </a:xfrm>
          <a:prstGeom prst="rect">
            <a:avLst/>
          </a:prstGeom>
          <a:solidFill>
            <a:srgbClr val="5C9279">
              <a:alpha val="3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 rot="-1320000">
            <a:off x="-1097280" y="5303520"/>
            <a:ext cx="3840480" cy="45720"/>
          </a:xfrm>
          <a:prstGeom prst="rect">
            <a:avLst/>
          </a:prstGeom>
          <a:solidFill>
            <a:srgbClr val="2F6844">
              <a:alpha val="5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 rot="-1320000">
            <a:off x="-1097280" y="5449824"/>
            <a:ext cx="3840480" cy="45720"/>
          </a:xfrm>
          <a:prstGeom prst="rect">
            <a:avLst/>
          </a:prstGeom>
          <a:solidFill>
            <a:srgbClr val="2F6844">
              <a:alpha val="5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rot="-1320000">
            <a:off x="-1097280" y="5596128"/>
            <a:ext cx="3840480" cy="45720"/>
          </a:xfrm>
          <a:prstGeom prst="rect">
            <a:avLst/>
          </a:prstGeom>
          <a:solidFill>
            <a:srgbClr val="2F6844">
              <a:alpha val="51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 rot="-1320000">
            <a:off x="-1097280" y="5742432"/>
            <a:ext cx="3840480" cy="45720"/>
          </a:xfrm>
          <a:prstGeom prst="rect">
            <a:avLst/>
          </a:prstGeom>
          <a:solidFill>
            <a:srgbClr val="2F6844">
              <a:alpha val="4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 rot="-1320000">
            <a:off x="-1097280" y="5888736"/>
            <a:ext cx="3840480" cy="45720"/>
          </a:xfrm>
          <a:prstGeom prst="rect">
            <a:avLst/>
          </a:prstGeom>
          <a:solidFill>
            <a:srgbClr val="2F6844">
              <a:alpha val="47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 rot="-1320000">
            <a:off x="-1097280" y="6035040"/>
            <a:ext cx="3840480" cy="45720"/>
          </a:xfrm>
          <a:prstGeom prst="rect">
            <a:avLst/>
          </a:prstGeom>
          <a:solidFill>
            <a:srgbClr val="2F6844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 rot="-1320000">
            <a:off x="-1097280" y="6181344"/>
            <a:ext cx="3840480" cy="45720"/>
          </a:xfrm>
          <a:prstGeom prst="rect">
            <a:avLst/>
          </a:prstGeom>
          <a:solidFill>
            <a:srgbClr val="2F6844">
              <a:alpha val="43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 rot="-1320000">
            <a:off x="-1097280" y="6327648"/>
            <a:ext cx="3840480" cy="45720"/>
          </a:xfrm>
          <a:prstGeom prst="rect">
            <a:avLst/>
          </a:prstGeom>
          <a:solidFill>
            <a:srgbClr val="2F6844">
              <a:alpha val="41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 rot="-1320000">
            <a:off x="-1097280" y="6473952"/>
            <a:ext cx="3840480" cy="45720"/>
          </a:xfrm>
          <a:prstGeom prst="rect">
            <a:avLst/>
          </a:prstGeom>
          <a:solidFill>
            <a:srgbClr val="2F6844">
              <a:alpha val="39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 rot="-1320000">
            <a:off x="-1097280" y="6620256"/>
            <a:ext cx="3840480" cy="45720"/>
          </a:xfrm>
          <a:prstGeom prst="rect">
            <a:avLst/>
          </a:prstGeom>
          <a:solidFill>
            <a:srgbClr val="2F6844">
              <a:alpha val="37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 rot="-1320000">
            <a:off x="-1097280" y="6766560"/>
            <a:ext cx="3840480" cy="45720"/>
          </a:xfrm>
          <a:prstGeom prst="rect">
            <a:avLst/>
          </a:prstGeom>
          <a:solidFill>
            <a:srgbClr val="2F6844">
              <a:alpha val="3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 rot="-1320000">
            <a:off x="-1097280" y="6912864"/>
            <a:ext cx="3840480" cy="45720"/>
          </a:xfrm>
          <a:prstGeom prst="rect">
            <a:avLst/>
          </a:prstGeom>
          <a:solidFill>
            <a:srgbClr val="2F6844">
              <a:alpha val="33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22960" y="914400"/>
            <a:ext cx="7589520" cy="5029200"/>
          </a:xfrm>
          <a:prstGeom prst="roundRect">
            <a:avLst>
              <a:gd name="adj" fmla="val 2182"/>
            </a:avLst>
          </a:prstGeom>
          <a:solidFill>
            <a:srgbClr val="FBFDFC"/>
          </a:solidFill>
          <a:ln/>
          <a:effectLst>
            <a:outerShdw sx="100000" sy="100000" kx="0" ky="0" algn="bl" rotWithShape="0" blurRad="177800" dist="50800" dir="54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143000" y="1325880"/>
            <a:ext cx="54864" cy="960120"/>
          </a:xfrm>
          <a:prstGeom prst="rect">
            <a:avLst/>
          </a:prstGeom>
          <a:solidFill>
            <a:srgbClr val="5C9279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5B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325880" y="1600200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 Analiz Önerileri;</a:t>
            </a:r>
            <a:endParaRPr lang="en-US" sz="2600" dirty="0"/>
          </a:p>
        </p:txBody>
      </p:sp>
      <p:sp>
        <p:nvSpPr>
          <p:cNvPr id="34" name="Shape 32"/>
          <p:cNvSpPr/>
          <p:nvPr/>
        </p:nvSpPr>
        <p:spPr>
          <a:xfrm>
            <a:off x="1325880" y="2578608"/>
            <a:ext cx="201168" cy="201168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35" name="Text 33"/>
          <p:cNvSpPr/>
          <p:nvPr/>
        </p:nvSpPr>
        <p:spPr>
          <a:xfrm>
            <a:off x="1691640" y="25146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performansını artıracaktır.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1325880" y="3145536"/>
            <a:ext cx="201168" cy="201168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37" name="Text 35"/>
          <p:cNvSpPr/>
          <p:nvPr/>
        </p:nvSpPr>
        <p:spPr>
          <a:xfrm>
            <a:off x="1691640" y="30815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davranışlarını daha iyi anlamayı sağlayacaktır.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1325880" y="3712464"/>
            <a:ext cx="201168" cy="201168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364845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Pazarlama stratejilerini güçlendirecektir.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325880" y="4279392"/>
            <a:ext cx="201168" cy="201168"/>
          </a:xfrm>
          <a:prstGeom prst="ellipse">
            <a:avLst/>
          </a:prstGeom>
          <a:solidFill>
            <a:srgbClr val="5C9279"/>
          </a:solidFill>
          <a:ln/>
        </p:spPr>
      </p:sp>
      <p:sp>
        <p:nvSpPr>
          <p:cNvPr id="41" name="Text 39"/>
          <p:cNvSpPr/>
          <p:nvPr/>
        </p:nvSpPr>
        <p:spPr>
          <a:xfrm>
            <a:off x="1691640" y="421538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odaklı karar alma süreçlerini destekleyecektir.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1325880" y="5257800"/>
            <a:ext cx="6309360" cy="0"/>
          </a:xfrm>
          <a:prstGeom prst="line">
            <a:avLst/>
          </a:prstGeom>
          <a:noFill/>
          <a:ln w="12700">
            <a:solidFill>
              <a:srgbClr val="CBE0D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25880" y="5440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8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Teşekkürler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2026-07-28T13:29:57Z</dcterms:created>
  <dcterms:modified xsi:type="dcterms:W3CDTF">2026-07-28T13:29:57Z</dcterms:modified>
</cp:coreProperties>
</file>